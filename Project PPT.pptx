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6"/>
  </p:notesMasterIdLst>
  <p:handoutMasterIdLst>
    <p:handoutMasterId r:id="rId17"/>
  </p:handoutMasterIdLst>
  <p:sldIdLst>
    <p:sldId id="277" r:id="rId4"/>
    <p:sldId id="399" r:id="rId5"/>
    <p:sldId id="400" r:id="rId6"/>
    <p:sldId id="401" r:id="rId7"/>
    <p:sldId id="402" r:id="rId8"/>
    <p:sldId id="403" r:id="rId9"/>
    <p:sldId id="409" r:id="rId10"/>
    <p:sldId id="404" r:id="rId11"/>
    <p:sldId id="410" r:id="rId12"/>
    <p:sldId id="405" r:id="rId13"/>
    <p:sldId id="406" r:id="rId14"/>
    <p:sldId id="40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905FF97-E485-4D99-925A-AB8E6818A785}">
          <p14:sldIdLst>
            <p14:sldId id="277"/>
            <p14:sldId id="399"/>
            <p14:sldId id="400"/>
            <p14:sldId id="401"/>
            <p14:sldId id="402"/>
            <p14:sldId id="403"/>
            <p14:sldId id="409"/>
            <p14:sldId id="404"/>
            <p14:sldId id="410"/>
            <p14:sldId id="405"/>
            <p14:sldId id="406"/>
            <p14:sldId id="4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946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47602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B.E CSE ( AIML )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57138" y="443068"/>
            <a:ext cx="84770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2400" i="1" u="sng" dirty="0">
                <a:latin typeface="Arial Black" panose="020B0A04020102020204" pitchFamily="34" charset="0"/>
              </a:rPr>
              <a:t>Using AI to Predict Lung Cancer Early by </a:t>
            </a:r>
            <a:endParaRPr lang="en-US" sz="2400" u="sng" dirty="0">
              <a:latin typeface="Arial Black" panose="020B0A04020102020204" pitchFamily="34" charset="0"/>
            </a:endParaRPr>
          </a:p>
          <a:p>
            <a:pPr algn="ctr"/>
            <a:r>
              <a:rPr lang="en-US" sz="2400" i="1" u="sng" dirty="0">
                <a:latin typeface="Arial Black" panose="020B0A04020102020204" pitchFamily="34" charset="0"/>
              </a:rPr>
              <a:t>Combining Clinical Records and Medical Imaging</a:t>
            </a:r>
            <a:endParaRPr lang="en-US" sz="2400" u="sng" dirty="0">
              <a:latin typeface="Arial Black" panose="020B0A04020102020204" pitchFamily="34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91773" y="4142792"/>
            <a:ext cx="43519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Submitted by: </a:t>
            </a:r>
            <a:endParaRPr lang="en-US" sz="2000" dirty="0"/>
          </a:p>
          <a:p>
            <a:r>
              <a:rPr lang="en-US" sz="2000" dirty="0"/>
              <a:t>Jashandeep Singh (24BAI70540)</a:t>
            </a:r>
          </a:p>
          <a:p>
            <a:r>
              <a:rPr lang="en-US" sz="2000" dirty="0"/>
              <a:t>Anshul (24BAI70425)</a:t>
            </a:r>
          </a:p>
          <a:p>
            <a:r>
              <a:rPr lang="en-US" sz="2000" dirty="0" err="1"/>
              <a:t>Pushpit</a:t>
            </a:r>
            <a:r>
              <a:rPr lang="en-US" sz="2000" dirty="0"/>
              <a:t> Kumar Gaur (24BAI70534)</a:t>
            </a:r>
          </a:p>
          <a:p>
            <a:r>
              <a:rPr lang="en-US" sz="2000" dirty="0"/>
              <a:t>Kush (24BAI70604) </a:t>
            </a:r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713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dirty="0"/>
              <a:t>Prof. Poonam Jyoti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to Project</a:t>
            </a:r>
          </a:p>
          <a:p>
            <a:r>
              <a:rPr lang="en-US" dirty="0">
                <a:latin typeface="Times New Roman"/>
                <a:cs typeface="Times New Roman"/>
              </a:rPr>
              <a:t>Problem Formulation</a:t>
            </a:r>
          </a:p>
          <a:p>
            <a:r>
              <a:rPr lang="en-US" dirty="0">
                <a:latin typeface="Times New Roman"/>
                <a:cs typeface="Times New Roman"/>
              </a:rPr>
              <a:t>Objectives of the work </a:t>
            </a:r>
          </a:p>
          <a:p>
            <a:r>
              <a:rPr lang="en-US" dirty="0">
                <a:latin typeface="Times New Roman"/>
                <a:cs typeface="Times New Roman"/>
              </a:rPr>
              <a:t>Methodology used</a:t>
            </a:r>
          </a:p>
          <a:p>
            <a:r>
              <a:rPr lang="en-US" spc="-10" dirty="0">
                <a:latin typeface="Times New Roman"/>
                <a:cs typeface="Times New Roman"/>
              </a:rPr>
              <a:t>Results and Outputs</a:t>
            </a:r>
          </a:p>
          <a:p>
            <a:r>
              <a:rPr lang="en-US" spc="-10" dirty="0">
                <a:latin typeface="Times New Roman"/>
                <a:cs typeface="Times New Roman"/>
              </a:rPr>
              <a:t>Conclusion</a:t>
            </a:r>
          </a:p>
          <a:p>
            <a:r>
              <a:rPr lang="en-US" dirty="0">
                <a:latin typeface="Times New Roman"/>
                <a:cs typeface="Times New Roman"/>
              </a:rPr>
              <a:t>Future Scope</a:t>
            </a:r>
          </a:p>
          <a:p>
            <a:r>
              <a:rPr lang="en-US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Lung cancer is the leading cause of cancer-related mortality worldwide due to late-stage diagnosis.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Traditional diagnosis relies heavily on manual CT scan interpretation, which can lead to human error.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Our Approach:</a:t>
            </a:r>
            <a:r>
              <a:rPr lang="en-US" dirty="0"/>
              <a:t> A hybrid system that doesn't just look at images but also integrates patient clinical history (age, smoking habits, etc.) for a holistic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Challenge:</a:t>
            </a:r>
            <a:r>
              <a:rPr lang="en-US" dirty="0"/>
              <a:t> Early-stage tumors are often indistinguishable from harmless growths in standard CT scans.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Gap:</a:t>
            </a:r>
            <a:r>
              <a:rPr lang="en-US" dirty="0"/>
              <a:t> Most AI models focus only on image pixels and ignore clinical metadata that doctors use daily.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Need:</a:t>
            </a:r>
            <a:r>
              <a:rPr lang="en-US" dirty="0"/>
              <a:t> A multi-modal system that reduces "False Negatives" and speeds up the screening process.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9912"/>
            <a:ext cx="10515600" cy="4881563"/>
          </a:xfrm>
        </p:spPr>
        <p:txBody>
          <a:bodyPr/>
          <a:lstStyle/>
          <a:p>
            <a:r>
              <a:rPr lang="en-US" dirty="0"/>
              <a:t>To develop a CNN-based architecture (VGG16) for high-accuracy lung cancer classification.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integrate clinical records with imaging data to improve diagnostic reliability.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achieve a classification accuracy exceeding 98% across four classes: Adenocarcinoma, Large Cell, Squamous Cell, and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1: Data Collection:</a:t>
            </a:r>
            <a:r>
              <a:rPr lang="en-US" dirty="0"/>
              <a:t> Hybrid dataset of CT Scan images (Kaggle) and simulated clinical records.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Step 2: Preprocessing:</a:t>
            </a:r>
            <a:r>
              <a:rPr lang="en-US" dirty="0"/>
              <a:t> Image resizing (224x224), normalization, and data augmentation to prevent overfitting.</a:t>
            </a:r>
          </a:p>
          <a:p>
            <a:endParaRPr lang="en-US" dirty="0"/>
          </a:p>
          <a:p>
            <a:r>
              <a:rPr lang="en-US" b="1" dirty="0"/>
              <a:t>Step 3: Feature Extraction:</a:t>
            </a:r>
            <a:r>
              <a:rPr lang="en-US" dirty="0"/>
              <a:t> Using VGG16 Transfer Learning to extract deep spatial features from lungs.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AC9A0-302D-A2EA-19EF-0B5A8B02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21AD-3334-069C-9AD9-0C3901E3E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4: Classification:</a:t>
            </a:r>
            <a:r>
              <a:rPr lang="en-US" dirty="0"/>
              <a:t> A dense layer with </a:t>
            </a:r>
            <a:r>
              <a:rPr lang="en-US" dirty="0" err="1"/>
              <a:t>Softmax</a:t>
            </a:r>
            <a:r>
              <a:rPr lang="en-US" dirty="0"/>
              <a:t> activation to categorize the input into 4 classes.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8DD37-3CEB-7785-2035-64FF665C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711A15-81D6-5737-9AB8-699ACDB722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657" y="1410769"/>
            <a:ext cx="8826759" cy="31671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9964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(Performance)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Overall Accuracy:</a:t>
            </a:r>
            <a:r>
              <a:rPr lang="en-US" dirty="0"/>
              <a:t> The model achieved a peak accuracy of </a:t>
            </a:r>
            <a:r>
              <a:rPr lang="en-US" b="1" dirty="0"/>
              <a:t>98.2%</a:t>
            </a:r>
            <a:r>
              <a:rPr lang="en-US" dirty="0"/>
              <a:t>.</a:t>
            </a:r>
          </a:p>
          <a:p>
            <a:r>
              <a:rPr lang="en-US" b="1" dirty="0"/>
              <a:t>Precision &amp; Recall:</a:t>
            </a:r>
            <a:r>
              <a:rPr lang="en-US" dirty="0"/>
              <a:t> High precision in identifying Adenocarcinoma, which is often the hardest to detect in early stages.</a:t>
            </a:r>
          </a:p>
          <a:p>
            <a:r>
              <a:rPr lang="en-US" b="1" dirty="0"/>
              <a:t>Clinical Significance:</a:t>
            </a:r>
            <a:r>
              <a:rPr lang="en-US" dirty="0"/>
              <a:t> The fusion of data reduced the error margin compared to image-only models.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8D908-CAC9-D678-E8D4-AE42A5D5A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277" y="4040155"/>
            <a:ext cx="9227976" cy="268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B130D-CDF0-F948-DBAD-B08C32BCD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0B226-0164-0263-AF27-C179277A5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Confusion Matrix shows minimal misclassification between "Normal" and "Malignant" cases.</a:t>
            </a:r>
          </a:p>
          <a:p>
            <a:pPr marL="0" indent="0">
              <a:buNone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Training Time:</a:t>
            </a:r>
            <a:r>
              <a:rPr lang="en-US" altLang="en-US" dirty="0">
                <a:latin typeface="Arial" panose="020B0604020202020204" pitchFamily="34" charset="0"/>
              </a:rPr>
              <a:t> 15 Epochs were sufficient to reach convergence.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Inference Speed:</a:t>
            </a:r>
            <a:r>
              <a:rPr lang="en-US" dirty="0"/>
              <a:t> Analysis is completed in less than 1 second, making it viable for hospital use.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2299B-1423-B669-7866-345EFDEC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9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research proves that combining AI with clinical context significantly boosts early detection rates.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VGG16-based hybrid model provides a robust "Second Opinion" for radiologists.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successfully addressed the limitations of manual screening by achieving 98.2%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Grad-CAM Implementation:</a:t>
            </a:r>
            <a:r>
              <a:rPr lang="en-US" dirty="0"/>
              <a:t> Adding "Explainable AI" to show doctors exactly where the model sees the cancer.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Real-time Deployment:</a:t>
            </a:r>
            <a:r>
              <a:rPr lang="en-US" dirty="0"/>
              <a:t> Developing a web-based portal where doctors can upload scans and get instant reports.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Larger Multimodal Fusion:</a:t>
            </a:r>
            <a:r>
              <a:rPr lang="en-US" dirty="0"/>
              <a:t> Including genomic data for even more personalized prognosis.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28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[1]</a:t>
            </a:r>
            <a:r>
              <a:rPr lang="en-US" dirty="0"/>
              <a:t> Mohamed Hany, "Chest CT-Scan images Dataset," Kaggle.</a:t>
            </a:r>
          </a:p>
          <a:p>
            <a:r>
              <a:rPr lang="en-US" b="1" dirty="0"/>
              <a:t>[2]</a:t>
            </a:r>
            <a:r>
              <a:rPr lang="en-US" dirty="0"/>
              <a:t> Simonyan &amp; Zisserman, "Very Deep Convolutional Networks for Large-Scale Image Recognition.“</a:t>
            </a:r>
          </a:p>
          <a:p>
            <a:r>
              <a:rPr lang="en-US" b="1" dirty="0"/>
              <a:t>[3]</a:t>
            </a:r>
            <a:r>
              <a:rPr lang="en-US" dirty="0"/>
              <a:t> Lin, S., et al. (2023), "A Deep Learning-Based Model for Lung Cancer Survival Analysis," </a:t>
            </a:r>
            <a:r>
              <a:rPr lang="en-US" i="1" dirty="0"/>
              <a:t>Cancers</a:t>
            </a:r>
            <a:r>
              <a:rPr lang="en-US" dirty="0"/>
              <a:t>.</a:t>
            </a:r>
          </a:p>
          <a:p>
            <a:r>
              <a:rPr lang="en-US" b="1" dirty="0"/>
              <a:t>[4]</a:t>
            </a:r>
            <a:r>
              <a:rPr lang="en-US" dirty="0"/>
              <a:t> Rajesh, P., et al., "Lung Cancer Diagnosis and Treatment Using AI and Mobile Applications."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6182</TotalTime>
  <Words>639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Casper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to Project</vt:lpstr>
      <vt:lpstr>Problem Formulation</vt:lpstr>
      <vt:lpstr>Objectives of the Work</vt:lpstr>
      <vt:lpstr>Methodology used</vt:lpstr>
      <vt:lpstr>Methodology used</vt:lpstr>
      <vt:lpstr>Results (Performance)</vt:lpstr>
      <vt:lpstr>Outputs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anshul yadav</cp:lastModifiedBy>
  <cp:revision>493</cp:revision>
  <dcterms:created xsi:type="dcterms:W3CDTF">2019-01-09T10:33:58Z</dcterms:created>
  <dcterms:modified xsi:type="dcterms:W3CDTF">2026-04-08T15:57:20Z</dcterms:modified>
</cp:coreProperties>
</file>